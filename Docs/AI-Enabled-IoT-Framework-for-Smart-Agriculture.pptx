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Fira Mono Medium" panose="020F0502020204030204" pitchFamily="49" charset="0"/>
      <p:regular r:id="rId13"/>
    </p:embeddedFont>
    <p:embeddedFont>
      <p:font typeface="Fira Sans" panose="020F050202020403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99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0040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AI-Enabled IoT Framework for Smart Agriculture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17469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Real-Time Soil Classification &amp; Profit-Optimized Crop Recommendation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56629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Utkarsh Persai, Devansh Rathore | Department of IoT, VIT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2465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Agricultural Challenge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18%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927515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GDP Contribution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77226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Agriculture's share of India's economy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50%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927515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Employment Base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477226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Population working in agriculture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289571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94.4%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92751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AI Accuracy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4417933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Soil classification success rate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753219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Despite agriculture's economic importance, most farmers still rely on traditional intuition-based methods rather than data-driven precision farming. IoT sensors and AI computer vision exist, but operate in isolation—creating a critical integration gap.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2170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Problem: Fragmented Systems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06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Current Reality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787378"/>
            <a:ext cx="3501509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IoT sensors collect raw environmental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models classify soil from images separately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unified decision-making framework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Crop recommendations ignore real-time conditions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206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The Consequence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787378"/>
            <a:ext cx="350150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Without integration, farmers receive conflicting advice. Soil type predictions lack context of current moisture, temperature, or weather forecasts—leading to irrigation errors and suboptimal crop selection.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ABEAC3-FA32-075C-0D35-62C482D3DD6B}"/>
              </a:ext>
            </a:extLst>
          </p:cNvPr>
          <p:cNvSpPr/>
          <p:nvPr/>
        </p:nvSpPr>
        <p:spPr>
          <a:xfrm>
            <a:off x="12830175" y="7781925"/>
            <a:ext cx="1695450" cy="3333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0364"/>
            <a:ext cx="7824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Our Integrated Solution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72772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306842"/>
            <a:ext cx="28904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Real-Time Sensors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79726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ESP32 collects moisture, temperature, humidity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72772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306842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Soil Classification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79726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analyzes smartphone images for soil type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86977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521047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Weather Integration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01146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Open-Meteo API provides forecasts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386977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521047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Profit Optimization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011466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Algorithm recommends highest-margin crops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8563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unified framework combining hardware telemetry, visual AI, and economic data for intelligent, automated farming decisions.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E84FDD-B69E-B7A0-EC38-84867CC48FCF}"/>
              </a:ext>
            </a:extLst>
          </p:cNvPr>
          <p:cNvSpPr/>
          <p:nvPr/>
        </p:nvSpPr>
        <p:spPr>
          <a:xfrm>
            <a:off x="12868275" y="7723822"/>
            <a:ext cx="1666875" cy="4763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071" y="609481"/>
            <a:ext cx="5256967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35499" y="1762601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2E2E2F"/>
          </a:solidFill>
          <a:ln/>
        </p:spPr>
      </p:sp>
      <p:sp>
        <p:nvSpPr>
          <p:cNvPr id="4" name="Shape 2"/>
          <p:cNvSpPr/>
          <p:nvPr/>
        </p:nvSpPr>
        <p:spPr>
          <a:xfrm>
            <a:off x="951071" y="1641515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2E2E2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422" y="1779865"/>
            <a:ext cx="276701" cy="2767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4493" y="1670328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Sensor Layer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54493" y="2048589"/>
            <a:ext cx="12024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Capacitive moisture sensor and DHT22 module capture environmental data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2200" y="3019425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2E2E2F"/>
          </a:solidFill>
          <a:ln/>
        </p:spPr>
      </p:sp>
      <p:sp>
        <p:nvSpPr>
          <p:cNvPr id="9" name="Shape 6"/>
          <p:cNvSpPr/>
          <p:nvPr/>
        </p:nvSpPr>
        <p:spPr>
          <a:xfrm>
            <a:off x="1227773" y="2898338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2E2E2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6123" y="3036689"/>
            <a:ext cx="276701" cy="276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31194" y="2927152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Edge Processing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31194" y="3305413"/>
            <a:ext cx="1174813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ESP32 microcontroller converts analog signals to JSON telemetry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688902" y="4276249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2E2E2F"/>
          </a:solidFill>
          <a:ln/>
        </p:spPr>
      </p:sp>
      <p:sp>
        <p:nvSpPr>
          <p:cNvPr id="14" name="Shape 10"/>
          <p:cNvSpPr/>
          <p:nvPr/>
        </p:nvSpPr>
        <p:spPr>
          <a:xfrm>
            <a:off x="1504474" y="4155162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2E2E2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2824" y="4293513"/>
            <a:ext cx="276701" cy="2767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07895" y="4183975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207895" y="4562237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USB-Serial (115200 baud) with MQTT fallback ensures reliable transmission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965603" y="5533072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2E2E2F"/>
          </a:solidFill>
          <a:ln/>
        </p:spPr>
      </p:sp>
      <p:sp>
        <p:nvSpPr>
          <p:cNvPr id="19" name="Shape 14"/>
          <p:cNvSpPr/>
          <p:nvPr/>
        </p:nvSpPr>
        <p:spPr>
          <a:xfrm>
            <a:off x="1781175" y="5411986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2E2E2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19526" y="5550337"/>
            <a:ext cx="276701" cy="2767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84596" y="5440799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AI Intelligence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484596" y="5819061"/>
            <a:ext cx="1119473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EfficientNetV2 + SVM classifies soil images; dashboard processes data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688902" y="6789896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2E2E2F"/>
          </a:solidFill>
          <a:ln/>
        </p:spPr>
      </p:sp>
      <p:sp>
        <p:nvSpPr>
          <p:cNvPr id="24" name="Shape 18"/>
          <p:cNvSpPr/>
          <p:nvPr/>
        </p:nvSpPr>
        <p:spPr>
          <a:xfrm>
            <a:off x="1504474" y="6668810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2E2E2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2824" y="6807160"/>
            <a:ext cx="276701" cy="2767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07895" y="6697623"/>
            <a:ext cx="2351246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Application Layer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2207895" y="7075884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Irrigation actuators and profit-optimized crop recommendations</a:t>
            </a:r>
            <a:endParaRPr lang="en-US" sz="14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2DB563-3ACB-A1D6-E816-EED7829FF699}"/>
              </a:ext>
            </a:extLst>
          </p:cNvPr>
          <p:cNvSpPr/>
          <p:nvPr/>
        </p:nvSpPr>
        <p:spPr>
          <a:xfrm>
            <a:off x="12868275" y="7723822"/>
            <a:ext cx="1666875" cy="4763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7390567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Hardware Implementation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3171230"/>
            <a:ext cx="4978360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Low-Cost, Rural-Friendly Design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49856" y="3708440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ESP32 Microcontroller:</a:t>
            </a: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32-bit CPU, 3.3V logic, Wi-Fi enabled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Capacitive Soil Sensor:</a:t>
            </a: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v1.2 analog output, corrosion-resistant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DHT22 Module:</a:t>
            </a: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±30°C temperature, 0-100% humidity range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5V Relay:</a:t>
            </a: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Opto-isolated actuation for irrigation pumps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5436632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Linear interpolation calibration maps 12-bit ADC values (3200-1100) to 0-100% saturation scale, minimizing noise from soil conductivity variations.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D7B59C-EBB9-71B7-F151-4517BA1B7267}"/>
              </a:ext>
            </a:extLst>
          </p:cNvPr>
          <p:cNvSpPr/>
          <p:nvPr/>
        </p:nvSpPr>
        <p:spPr>
          <a:xfrm>
            <a:off x="12868275" y="7723822"/>
            <a:ext cx="1666875" cy="4763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8775" y="1023461"/>
            <a:ext cx="6108859" cy="606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AI Model Architecture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78775" y="1878330"/>
            <a:ext cx="3810238" cy="2113598"/>
          </a:xfrm>
          <a:prstGeom prst="roundRect">
            <a:avLst>
              <a:gd name="adj" fmla="val 1377"/>
            </a:avLst>
          </a:prstGeom>
          <a:solidFill>
            <a:srgbClr val="2E2E2F"/>
          </a:solidFill>
          <a:ln/>
        </p:spPr>
      </p:sp>
      <p:sp>
        <p:nvSpPr>
          <p:cNvPr id="5" name="Shape 2"/>
          <p:cNvSpPr/>
          <p:nvPr/>
        </p:nvSpPr>
        <p:spPr>
          <a:xfrm>
            <a:off x="872728" y="2072283"/>
            <a:ext cx="581858" cy="581858"/>
          </a:xfrm>
          <a:prstGeom prst="roundRect">
            <a:avLst>
              <a:gd name="adj" fmla="val 15713603"/>
            </a:avLst>
          </a:prstGeom>
          <a:solidFill>
            <a:srgbClr val="FF6BD8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748" y="2232303"/>
            <a:ext cx="261818" cy="2618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2728" y="2819995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IRSID Dataset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72728" y="3222427"/>
            <a:ext cx="3422333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Indian Regions Soil Image Database with 16 physical samples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654868" y="1878330"/>
            <a:ext cx="3810357" cy="2113598"/>
          </a:xfrm>
          <a:prstGeom prst="roundRect">
            <a:avLst>
              <a:gd name="adj" fmla="val 1377"/>
            </a:avLst>
          </a:prstGeom>
          <a:solidFill>
            <a:srgbClr val="2E2E2F"/>
          </a:solidFill>
          <a:ln/>
        </p:spPr>
      </p:sp>
      <p:sp>
        <p:nvSpPr>
          <p:cNvPr id="10" name="Shape 6"/>
          <p:cNvSpPr/>
          <p:nvPr/>
        </p:nvSpPr>
        <p:spPr>
          <a:xfrm>
            <a:off x="4848820" y="2072283"/>
            <a:ext cx="581858" cy="581858"/>
          </a:xfrm>
          <a:prstGeom prst="roundRect">
            <a:avLst>
              <a:gd name="adj" fmla="val 15713603"/>
            </a:avLst>
          </a:prstGeom>
          <a:solidFill>
            <a:srgbClr val="FF6BD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8840" y="2232303"/>
            <a:ext cx="261818" cy="2618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48820" y="2819995"/>
            <a:ext cx="2471499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EfficientNetV2-B0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4848820" y="3222427"/>
            <a:ext cx="3422452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Frozen ImageNet weights extract 1,280-dimensional features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78775" y="4157782"/>
            <a:ext cx="7786449" cy="1825823"/>
          </a:xfrm>
          <a:prstGeom prst="roundRect">
            <a:avLst>
              <a:gd name="adj" fmla="val 1593"/>
            </a:avLst>
          </a:prstGeom>
          <a:solidFill>
            <a:srgbClr val="2E2E2F"/>
          </a:solidFill>
          <a:ln/>
        </p:spPr>
      </p:sp>
      <p:sp>
        <p:nvSpPr>
          <p:cNvPr id="15" name="Shape 10"/>
          <p:cNvSpPr/>
          <p:nvPr/>
        </p:nvSpPr>
        <p:spPr>
          <a:xfrm>
            <a:off x="872728" y="4351734"/>
            <a:ext cx="581858" cy="581858"/>
          </a:xfrm>
          <a:prstGeom prst="roundRect">
            <a:avLst>
              <a:gd name="adj" fmla="val 15713603"/>
            </a:avLst>
          </a:prstGeom>
          <a:solidFill>
            <a:srgbClr val="FF6BD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2748" y="4511754"/>
            <a:ext cx="261818" cy="26181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2728" y="5099447"/>
            <a:ext cx="2424470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SVM Classifier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872728" y="5501878"/>
            <a:ext cx="7398544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RBF kernel maps vectors to 5 soil types: Clay, Loam, Sand variants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78775" y="6170176"/>
            <a:ext cx="7786449" cy="1035963"/>
          </a:xfrm>
          <a:prstGeom prst="roundRect">
            <a:avLst>
              <a:gd name="adj" fmla="val 2808"/>
            </a:avLst>
          </a:prstGeom>
          <a:solidFill>
            <a:srgbClr val="4D0038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728" y="6448544"/>
            <a:ext cx="242411" cy="19395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09092" y="6384488"/>
            <a:ext cx="6962180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Validation:</a:t>
            </a:r>
            <a:r>
              <a:rPr lang="en-US" sz="150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Leave-One-Sample-Out Cross-Validation (LOSO-CV) ensures accuracy on unseen physical samples, not augmented copies.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73298"/>
            <a:ext cx="64635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Performance 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905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94.4%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17734" y="2980849"/>
            <a:ext cx="39106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Classification 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47126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Hybrid EfficientNetV2 + SVM model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194905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15ms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2980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 Latency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47126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USB-Serial transmission vs. 450ms cloud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194905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2980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Packet Success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47126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48-hour stress test reliability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17433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Model Comparison</a:t>
            </a:r>
            <a:endParaRPr lang="en-US" sz="2650" dirty="0"/>
          </a:p>
        </p:txBody>
      </p:sp>
      <p:sp>
        <p:nvSpPr>
          <p:cNvPr id="13" name="Shape 11"/>
          <p:cNvSpPr/>
          <p:nvPr/>
        </p:nvSpPr>
        <p:spPr>
          <a:xfrm>
            <a:off x="793790" y="4939784"/>
            <a:ext cx="13042821" cy="2616518"/>
          </a:xfrm>
          <a:prstGeom prst="roundRect">
            <a:avLst>
              <a:gd name="adj" fmla="val 130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410" y="494740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50911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Algorithmic Model applied to CNN Vector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0911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Validation Accuracy (%)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977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574143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Random Forest (Baseline 100 Estimators)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574143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88.50%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24804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224" y="63917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K-Nearest Neighbors (KNN, k=5)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824" y="63917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86.20%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801410" y="689836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28224" y="704207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Proposed Hybrid (EfficientNetV2 + SVM RBF)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45824" y="704207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94.40%</a:t>
            </a:r>
            <a:endParaRPr lang="en-US" sz="17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C9C881-AB2D-8F51-D9AE-C365229E9956}"/>
              </a:ext>
            </a:extLst>
          </p:cNvPr>
          <p:cNvSpPr/>
          <p:nvPr/>
        </p:nvSpPr>
        <p:spPr>
          <a:xfrm>
            <a:off x="12868275" y="7723822"/>
            <a:ext cx="1666875" cy="4763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2433" y="1067991"/>
            <a:ext cx="6366867" cy="576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Real-World Applications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2433" y="1870115"/>
            <a:ext cx="461486" cy="4614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32433" y="2519363"/>
            <a:ext cx="2307550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Smart Irrigation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32433" y="2897862"/>
            <a:ext cx="785193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Automated drought mitigation using relay-controlled pumps, conserving groundwater through precise moisture monitoring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2433" y="3734038"/>
            <a:ext cx="461486" cy="4614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32433" y="4383286"/>
            <a:ext cx="2307550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Economic Safety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32433" y="4761786"/>
            <a:ext cx="785193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Multi-crop planner evaluates government MSP prices, guiding farmers to high-margin alternatives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2433" y="5597962"/>
            <a:ext cx="461486" cy="4614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32433" y="6247209"/>
            <a:ext cx="2767489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Urban Infrastructure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32433" y="6625709"/>
            <a:ext cx="7851934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JSON-based telemetry framework redeployable for smart-park irrigation and pipeline leak detection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5EA25-9655-377C-1DDE-09720D2D0C8B}"/>
              </a:ext>
            </a:extLst>
          </p:cNvPr>
          <p:cNvSpPr/>
          <p:nvPr/>
        </p:nvSpPr>
        <p:spPr>
          <a:xfrm>
            <a:off x="12868275" y="7723822"/>
            <a:ext cx="1666875" cy="4763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098" y="817126"/>
            <a:ext cx="7583805" cy="1393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Conclusion &amp; Future Vision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780098" y="2757607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Key Achievements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780098" y="3324820"/>
            <a:ext cx="3519964" cy="2704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94.4% accurate soil classification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sensor fusion with AI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Profit-optimized crop recommendations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Low-cost, rural-deployable hardware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1559" y="2757607"/>
            <a:ext cx="2786301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Future Work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4851559" y="3324820"/>
            <a:ext cx="3519964" cy="2274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TinyML: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On-device neural inference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Solar-Powered Nodes: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Photovoltaic energy harvesting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LoRaWAN Mesh:</a:t>
            </a: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Large-scale deployments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0098" y="6351865"/>
            <a:ext cx="7583805" cy="106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This integrated AI-IoT framework demonstrates the feasibility of cost-effective precision farming, bridging the gap between advanced analytics and practical rural agriculture.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573</Words>
  <Application>Microsoft Office PowerPoint</Application>
  <PresentationFormat>Custom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Fira Mono Medium</vt:lpstr>
      <vt:lpstr>Arial</vt:lpstr>
      <vt:lpstr>Fira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Utkarsh Persai</cp:lastModifiedBy>
  <cp:revision>2</cp:revision>
  <dcterms:created xsi:type="dcterms:W3CDTF">2026-03-26T17:20:39Z</dcterms:created>
  <dcterms:modified xsi:type="dcterms:W3CDTF">2026-03-26T17:25:45Z</dcterms:modified>
</cp:coreProperties>
</file>