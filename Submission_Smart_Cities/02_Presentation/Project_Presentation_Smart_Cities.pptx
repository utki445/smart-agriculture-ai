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deb8a58-716c-a4fe-3ad2-2c22e21bf544}">
          <p14:sldIdLst>
            <p14:sldId id="256"/>
            <p14:sldId id="257"/>
            <p14:sldId id="258"/>
          </p14:sldIdLst>
        </p14:section>
        <p14:section name="1 Requirements" id="{6ffdccf4-6cce-8b89-0be8-10f3c7e1d920}">
          <p14:sldIdLst>
            <p14:sldId id="259"/>
            <p14:sldId id="260"/>
          </p14:sldIdLst>
        </p14:section>
        <p14:section name="2 Design" id="{848c6e23-c024-8b25-9c0b-c5c4812989d3}">
          <p14:sldIdLst>
            <p14:sldId id="261"/>
            <p14:sldId id="262"/>
            <p14:sldId id="263"/>
            <p14:sldId id="264"/>
          </p14:sldIdLst>
        </p14:section>
        <p14:section name="3 Implementation" id="{fe994cc5-268e-aa1a-7015-39448312ee00}">
          <p14:sldIdLst>
            <p14:sldId id="265"/>
            <p14:sldId id="266"/>
            <p14:sldId id="267"/>
          </p14:sldIdLst>
        </p14:section>
        <p14:section name="4 Testing" id="{8d922ff9-f61f-7636-b80e-644e4eea8b79}">
          <p14:sldIdLst>
            <p14:sldId id="268"/>
            <p14:sldId id="269"/>
            <p14:sldId id="270"/>
            <p14:sldId id="271"/>
          </p14:sldIdLst>
        </p14:section>
        <p14:section name="5 Outcome" id="{53f045cf-3c5e-f717-abe0-94f852cb892f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as sitting in the water domain of smart city design, not as an agriculture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the civic water domain. The key point is that open-loop timer irrigation produces over- and under-watering simultaneously, and reports success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node is deliberately generic across site types. Emphasise: each site closes its own loop; telemetry flows up, commands never flow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NFR-1 and NFR-4: these are the requirements that distinguish a city deployment from a single demo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layers quickly. The point to land is the boundary: the host can observe everything and command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It is the smart-city argument: adding visibility must not add a single point of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scale figures are arithmetic on unit cost and exclude installation. Do not overclaim.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DHT11 read fails, nulls are sent and irrigation continues on moisture alone. That is NFR-3 in the firmware.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separate 5 V supply for the pump and the common ground. Good slide to hand over to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past TC-06 and TC-07. Examiners respect a team that found its own failure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benefit is moderate because the probe spends little time in the dead band. Across a continuously running municipal fleet, 17 percent fewer actuations accumulates into relay and pump service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 across three network architectures and five randomisations, so it is a property of the dataset, not one model. Only 16 source photographs, two classes with a single photograph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ACS712 is the highest-value single addition: about 15 percent of unit cost, and it removes the one failure the system cannot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2240280"/>
            <a:ext cx="11027664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4069080"/>
            <a:ext cx="11027664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A9C4D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D5EAF4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48606E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66928" y="64190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AE"/>
                </a:solidFill>
              </a:rPr>
              <a:t>Smart Water Management for Urban Green Infrastructure</a:t>
            </a:r>
            <a:endParaRPr lang="en-US" sz="95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rgbClr val="8EA3AE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91640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FA8C4"/>
                </a:solidFill>
              </a:rPr>
              <a:t>SMART CITIES  ·  WATER DOMAIN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66928" y="2240280"/>
            <a:ext cx="11027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Water Management for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Green Infrastructure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66928" y="4069080"/>
            <a:ext cx="110276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9C4D4"/>
                </a:solidFill>
              </a:rPr>
              <a:t>A low-cost, network-resilient edge-IoT irrigation node with deep-learning soil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5715000"/>
            <a:ext cx="1188720" cy="3200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897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A3AE"/>
                </a:solidFill>
              </a:rPr>
              <a:t>Project Report &amp; Demonstration  ·  Design of Smart Cities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irrigate a great deal of land — on a timer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Parks, urban forests, road medians, green belts, green roofs and community gardens</a:t>
            </a:r>
            <a:endParaRPr lang="en-US" sz="1500" dirty="0"/>
          </a:p>
        </p:txBody>
      </p:sp>
      <p:sp>
        <p:nvSpPr>
          <p:cNvPr id="4" name="problem0"/>
          <p:cNvSpPr/>
          <p:nvPr/>
        </p:nvSpPr>
        <p:spPr>
          <a:xfrm>
            <a:off x="566928" y="18288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03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A timer cannot sense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06E"/>
                </a:solidFill>
              </a:rPr>
              <a:t>It does not know it rained yesterday, or that one bed drains faster than another.</a:t>
            </a:r>
            <a:endParaRPr lang="en-US" sz="1300" dirty="0"/>
          </a:p>
        </p:txBody>
      </p:sp>
      <p:sp>
        <p:nvSpPr>
          <p:cNvPr id="8" name="problem1"/>
          <p:cNvSpPr/>
          <p:nvPr/>
        </p:nvSpPr>
        <p:spPr>
          <a:xfrm>
            <a:off x="4334256" y="18288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2103120"/>
            <a:ext cx="457200" cy="457200"/>
          </a:xfrm>
          <a:prstGeom prst="ellipse">
            <a:avLst/>
          </a:prstGeom>
          <a:solidFill>
            <a:srgbClr val="D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02936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Both failures at once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06E"/>
                </a:solidFill>
              </a:rPr>
              <a:t>The same green space is over-watered in places and under-watered in others.</a:t>
            </a:r>
            <a:endParaRPr lang="en-US" sz="1300" dirty="0"/>
          </a:p>
        </p:txBody>
      </p:sp>
      <p:sp>
        <p:nvSpPr>
          <p:cNvPr id="12" name="problem2"/>
          <p:cNvSpPr/>
          <p:nvPr/>
        </p:nvSpPr>
        <p:spPr>
          <a:xfrm>
            <a:off x="8101584" y="18288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2103120"/>
            <a:ext cx="457200" cy="457200"/>
          </a:xfrm>
          <a:prstGeom prst="ellipse">
            <a:avLst/>
          </a:prstGeom>
          <a:solidFill>
            <a:srgbClr val="C23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0264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Nobody notices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06E"/>
                </a:solidFill>
              </a:rPr>
              <a:t>Open-loop systems report success whether or not water actually reached the soil.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343400"/>
            <a:ext cx="11027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Green infrastructure is growing in importance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— vegetation moderates the urban heat island, manages stormwater and improves air quality. Cities are asked to maintain more of it, more reliably, without using more water.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12064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5A82"/>
                </a:solidFill>
              </a:rPr>
              <a:t>Demand-driven irrigation is the direct response to that pressure.</a:t>
            </a:r>
            <a:endParaRPr lang="en-US" sz="1500" dirty="0"/>
          </a:p>
        </p:txBody>
      </p:sp>
      <p:sp>
        <p:nvSpPr>
          <p:cNvPr id="19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One node per irrigation zone, replicated across heterogeneous urban green space</a:t>
            </a:r>
            <a:endParaRPr lang="en-US" sz="1500" dirty="0"/>
          </a:p>
        </p:txBody>
      </p:sp>
      <p:pic>
        <p:nvPicPr>
          <p:cNvPr id="4" name="Image 0" descr="D:\Asus\Desktop\Project\smart_agri\results\figures\fig_urban_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888" y="1691640"/>
            <a:ext cx="7737744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846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₹970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32688" y="55595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606E"/>
                </a:solidFill>
              </a:rPr>
              <a:t>cost per node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90288" y="4846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Hz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590288" y="55595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606E"/>
                </a:solidFill>
              </a:rPr>
              <a:t>local decision rate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47888" y="4846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247888" y="55595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606E"/>
                </a:solidFill>
              </a:rPr>
              <a:t>network dependency</a:t>
            </a:r>
            <a:endParaRPr lang="en-US" sz="115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— Requirements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D5EAF4"/>
                </a:solidFill>
              </a:rPr>
              <a:t>Software Requirements Specification — what the system must do, and what it must survive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— Requirements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Ten functional and six non-functional requirements; the non-functional ones decide whether it scales</a:t>
            </a:r>
            <a:endParaRPr lang="en-US" sz="1500" dirty="0"/>
          </a:p>
        </p:txBody>
      </p:sp>
      <p:sp>
        <p:nvSpPr>
          <p:cNvPr id="4" name="fr"/>
          <p:cNvSpPr/>
          <p:nvPr/>
        </p:nvSpPr>
        <p:spPr>
          <a:xfrm>
            <a:off x="566928" y="1737360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920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Functional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774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Measure soil moisture, air temperature and humidity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Switch the pump automatically from the measurement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Use two thresholds with a dead band, not one set point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Emit a telemetry record at a fixed interval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Indicate state locally, visible without instruments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Classify soil type and condition from a photograph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Produce weather-aware watering advice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Provide monitoring, reporting and manual override</a:t>
            </a:r>
            <a:endParaRPr lang="en-US" sz="1350" dirty="0"/>
          </a:p>
        </p:txBody>
      </p:sp>
      <p:sp>
        <p:nvSpPr>
          <p:cNvPr id="7" name="nfr"/>
          <p:cNvSpPr/>
          <p:nvPr/>
        </p:nvSpPr>
        <p:spPr>
          <a:xfrm>
            <a:off x="6281928" y="1737360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E9F1EC"/>
          </a:solidFill>
          <a:ln w="9525">
            <a:solidFill>
              <a:srgbClr val="CBDE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1920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5C"/>
                </a:solidFill>
              </a:rPr>
              <a:t>Non-functional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3774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irrigation decision is taken on the node, never remotely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Unit cost low enough to deploy in quantity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Failure of a secondary sensor must not stop irrigation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monitoring layer must be incapable of actuation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Commodity parts, for municipal procurement and repair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Undetectable failure modes must be identified and documented</a:t>
            </a:r>
            <a:endParaRPr lang="en-US" sz="1350" dirty="0"/>
          </a:p>
        </p:txBody>
      </p:sp>
      <p:sp>
        <p:nvSpPr>
          <p:cNvPr id="11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SDS — Design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D5EAF4"/>
                </a:solidFill>
              </a:rPr>
              <a:t>Software Design Specification — architecture, hardware, data and the control law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boundary that matters</a:t>
            </a:r>
            <a:endParaRPr lang="en-US" sz="3000" dirty="0"/>
          </a:p>
        </p:txBody>
      </p:sp>
      <p:pic>
        <p:nvPicPr>
          <p:cNvPr id="3" name="Image 0" descr="D:\Asus\Desktop\Project\smart_agri\results\figures\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5651" y="1417320"/>
            <a:ext cx="6770218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5257800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Everything needed to keep vegetation watered lives on the microcontroller.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 Every layer above it is additive: logging, classification, advice, reporting.</a:t>
            </a:r>
            <a:endParaRPr lang="en-US" sz="145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FA8C4"/>
                </a:solidFill>
              </a:rPr>
              <a:t>CENTRAL DESIGN DECISION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66928" y="2240280"/>
            <a:ext cx="11027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node never asks a server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to irrigate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66928" y="4069080"/>
            <a:ext cx="110276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9C4D4"/>
                </a:solidFill>
              </a:rPr>
              <a:t>On a farm that is convenience. Across a fleet of four hundred nodes it is the difference between a network outage degrading visibility and a network outage stopping service.</a:t>
            </a:r>
            <a:endParaRPr lang="en-US" sz="1600" dirty="0"/>
          </a:p>
        </p:txBody>
      </p:sp>
      <p:sp>
        <p:nvSpPr>
          <p:cNvPr id="5" name="fail0"/>
          <p:cNvSpPr/>
          <p:nvPr/>
        </p:nvSpPr>
        <p:spPr>
          <a:xfrm>
            <a:off x="566928" y="53492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6293A"/>
          </a:solidFill>
          <a:ln w="9525">
            <a:solidFill>
              <a:srgbClr val="2C4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468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</a:rPr>
              <a:t>Network fails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AF4"/>
                </a:solidFill>
              </a:rPr>
              <a:t>Every node keeps watering</a:t>
            </a:r>
            <a:endParaRPr lang="en-US" sz="1300" dirty="0"/>
          </a:p>
        </p:txBody>
      </p:sp>
      <p:sp>
        <p:nvSpPr>
          <p:cNvPr id="8" name="fail1"/>
          <p:cNvSpPr/>
          <p:nvPr/>
        </p:nvSpPr>
        <p:spPr>
          <a:xfrm>
            <a:off x="4334256" y="53492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6293A"/>
          </a:solidFill>
          <a:ln w="9525">
            <a:solidFill>
              <a:srgbClr val="2C4A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0288" y="5468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</a:rPr>
              <a:t>Host fails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5760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AF4"/>
                </a:solidFill>
              </a:rPr>
              <a:t>Every node keeps watering</a:t>
            </a:r>
            <a:endParaRPr lang="en-US" sz="1300" dirty="0"/>
          </a:p>
        </p:txBody>
      </p:sp>
      <p:sp>
        <p:nvSpPr>
          <p:cNvPr id="11" name="fail2"/>
          <p:cNvSpPr/>
          <p:nvPr/>
        </p:nvSpPr>
        <p:spPr>
          <a:xfrm>
            <a:off x="8101584" y="53492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6293A"/>
          </a:solidFill>
          <a:ln w="9525">
            <a:solidFill>
              <a:srgbClr val="2C4A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7616" y="5468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00"/>
                </a:solidFill>
              </a:rPr>
              <a:t>Node fails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5760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AF4"/>
                </a:solidFill>
              </a:rPr>
              <a:t>One zone affected, not the fleet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cost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Commodity parts only — unit cost is a design parameter, not an outcome</a:t>
            </a:r>
            <a:endParaRPr lang="en-US" sz="1500" dirty="0"/>
          </a:p>
        </p:txBody>
      </p:sp>
      <p:pic>
        <p:nvPicPr>
          <p:cNvPr id="4" name="Image 0" descr="D:\Asus\Desktop\Project\smart_agri\results\figures\fig2_circ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97" y="1645920"/>
            <a:ext cx="6389461" cy="3291840"/>
          </a:xfrm>
          <a:prstGeom prst="rect">
            <a:avLst/>
          </a:prstGeom>
        </p:spPr>
      </p:pic>
      <p:sp>
        <p:nvSpPr>
          <p:cNvPr id="5" name="bom"/>
          <p:cNvSpPr/>
          <p:nvPr/>
        </p:nvSpPr>
        <p:spPr>
          <a:xfrm>
            <a:off x="7744968" y="16459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19288" y="1810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Bill of materials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19288" y="2240280"/>
          <a:ext cx="33832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ESP32-WROOM-32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₹284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Capacitive probe v1.2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₹83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DHT11 module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₹61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5 V relay module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₹42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Pump, BC547B, LEDs, resistors, wiring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6404F"/>
                          </a:solidFill>
                        </a:rPr>
                        <a:t>₹500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Total per node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₹970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019288" y="4224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A5C"/>
                </a:solidFill>
              </a:rPr>
              <a:t>100 zones ≈ ₹97,000      400 zones ≈ ₹3.9 lakh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120640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8606E"/>
                </a:solidFill>
              </a:rPr>
              <a:t>Hardware only — excludes enclosures, plumbing, installation and maintenance. Given to show the order of magnitude at which this becomes a procurement question.</a:t>
            </a:r>
            <a:endParaRPr lang="en-US" sz="1250" dirty="0"/>
          </a:p>
        </p:txBody>
      </p:sp>
      <p:sp>
        <p:nvSpPr>
          <p:cNvPr id="11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D5EAF4"/>
                </a:solidFill>
              </a:rPr>
              <a:t>Firmware, host software and the assembled node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loop, once per second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Self-contained: no host, no network, no cloud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8562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Read sensors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584448" y="17830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DHT11 on GPIO 4, capacitive probe on GPIO 34 as a raw 12-bit value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6243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551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Convert and clamp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5511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Two-point calibration to 0–100 %; the clamp also guards a disconnected probe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39242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Apply hysteresis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Pump on below 30 %, off above 60 %, hold state in between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Update indicators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40873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Red steady for alive; green blinks at 250 ms while the pump runs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Emit telemetry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48554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One JSON record at 115200 baud, then wait one second</a:t>
            </a:r>
            <a:endParaRPr lang="en-US" sz="1250" dirty="0"/>
          </a:p>
        </p:txBody>
      </p:sp>
      <p:sp>
        <p:nvSpPr>
          <p:cNvPr id="24" name="stack"/>
          <p:cNvSpPr/>
          <p:nvPr/>
        </p:nvSpPr>
        <p:spPr>
          <a:xfrm>
            <a:off x="8430768" y="173736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05088" y="1901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Stack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705088" y="233172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C/C++ on the Arduino core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USB serial, 115200 baud, JSON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Python 3.11 + pyserial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TensorFlow / Keras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scikit-learn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Streamlit + Plotly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ReportLab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Open-Meteo forecast API</a:t>
            </a:r>
            <a:endParaRPr lang="en-US" sz="1250" dirty="0"/>
          </a:p>
        </p:txBody>
      </p:sp>
      <p:sp>
        <p:nvSpPr>
          <p:cNvPr id="28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assembled node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Probe in a sealed soil container that can be wetted and left to dry — repeatable control of the variable under test</a:t>
            </a:r>
            <a:endParaRPr lang="en-US" sz="1500" dirty="0"/>
          </a:p>
        </p:txBody>
      </p:sp>
      <p:pic>
        <p:nvPicPr>
          <p:cNvPr id="4" name="Image 0" descr="D:\Asus\Desktop\Project\smart_agri\results\figures\fig3_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117" y="1645920"/>
            <a:ext cx="6625285" cy="393192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D5EAF4"/>
                </a:solidFill>
              </a:rPr>
              <a:t>Not only whether it works, but what it cannot see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fault-injection tests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Five behaved as specified; two did not, and both are reported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2766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59070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404F"/>
                          </a:solidFill>
                        </a:rPr>
                        <a:t>Test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404F"/>
                          </a:solidFill>
                        </a:rPr>
                        <a:t>Condition applied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404F"/>
                          </a:solidFill>
                        </a:rPr>
                        <a:t>Result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TC-01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Moisture 65 %, normal conditions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Pump off, telemetry sent — pass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TC-02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Moisture 22 %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Pump on, green LED blinking — pass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TC-03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Moisture 45 % with pump already 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State held, no chatter — pass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TC-04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Moisture exactly 30 %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Pump off, matches the rule — pass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TC-05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DHT11 data line removed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404F"/>
                          </a:solidFill>
                        </a:rPr>
                        <a:t>Nulls sent, irrigation continued — pass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8A00"/>
                          </a:solidFill>
                        </a:rPr>
                        <a:t>TC-06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8A00"/>
                          </a:solidFill>
                        </a:rPr>
                        <a:t>Moisture probe unplugged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8A00"/>
                          </a:solidFill>
                        </a:rPr>
                        <a:t>Fail-safe triggered, but fault not detected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3B22"/>
                          </a:solidFill>
                        </a:rPr>
                        <a:t>TC-07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23B22"/>
                          </a:solidFill>
                        </a:rPr>
                        <a:t>Pump supply removed while running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3B22"/>
                          </a:solidFill>
                        </a:rPr>
                        <a:t>Pump stopped, firmware kept reporting it 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c07"/>
          <p:cNvSpPr/>
          <p:nvPr/>
        </p:nvSpPr>
        <p:spPr>
          <a:xfrm>
            <a:off x="566928" y="4754880"/>
            <a:ext cx="11027664" cy="960120"/>
          </a:xfrm>
          <a:prstGeom prst="roundRect">
            <a:avLst>
              <a:gd name="adj" fmla="val 7619"/>
            </a:avLst>
          </a:prstGeom>
          <a:solidFill>
            <a:srgbClr val="FBEDEA"/>
          </a:solidFill>
          <a:ln w="9525">
            <a:solidFill>
              <a:srgbClr val="EBC4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4892040"/>
            <a:ext cx="10479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3B22"/>
                </a:solidFill>
              </a:rPr>
              <a:t>TC-07 is the most consequential result. </a:t>
            </a:r>
            <a:pPr indent="0" marL="0">
              <a:buNone/>
            </a:pPr>
            <a:r>
              <a:rPr lang="en-US" sz="1350" dirty="0">
                <a:solidFill>
                  <a:srgbClr val="5A3A34"/>
                </a:solidFill>
              </a:rPr>
              <a:t>The relay is commanded but never measured, so a dead pump is reported as running. In a municipal deployment this persists until vegetation visibly declines — and every record in between says the site was watered.</a:t>
            </a:r>
            <a:endParaRPr lang="en-US" sz="1350" dirty="0"/>
          </a:p>
        </p:txBody>
      </p:sp>
      <p:sp>
        <p:nvSpPr>
          <p:cNvPr id="8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Control-law validation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8,171 telemetry records across 33 logging sessions, median interval 1.00 s</a:t>
            </a:r>
            <a:endParaRPr lang="en-US" sz="1500" dirty="0"/>
          </a:p>
        </p:txBody>
      </p:sp>
      <p:pic>
        <p:nvPicPr>
          <p:cNvPr id="4" name="Image 0" descr="D:\Asus\Desktop\Project\smart_agri\results\figures\fig5_control_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461" y="1600200"/>
            <a:ext cx="5638373" cy="3931920"/>
          </a:xfrm>
          <a:prstGeom prst="rect">
            <a:avLst/>
          </a:prstGeom>
        </p:spPr>
      </p:pic>
      <p:sp>
        <p:nvSpPr>
          <p:cNvPr id="5" name="cl0"/>
          <p:cNvSpPr/>
          <p:nvPr/>
        </p:nvSpPr>
        <p:spPr>
          <a:xfrm>
            <a:off x="7882128" y="178308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2128" y="19659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110728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fewer relay transitions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than a single set point</a:t>
            </a:r>
            <a:endParaRPr lang="en-US" sz="1250" dirty="0"/>
          </a:p>
        </p:txBody>
      </p:sp>
      <p:sp>
        <p:nvSpPr>
          <p:cNvPr id="8" name="cl1"/>
          <p:cNvSpPr/>
          <p:nvPr/>
        </p:nvSpPr>
        <p:spPr>
          <a:xfrm>
            <a:off x="7882128" y="370332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82128" y="38862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6.6 %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8110728" y="46177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of readings fall inside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the 30–60 % dead band</a:t>
            </a:r>
            <a:endParaRPr lang="en-US" sz="125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soil classifier was evaluated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The same classifier and features, tested two ways</a:t>
            </a:r>
            <a:endParaRPr lang="en-US" sz="1500" dirty="0"/>
          </a:p>
        </p:txBody>
      </p:sp>
      <p:pic>
        <p:nvPicPr>
          <p:cNvPr id="4" name="Image 0" descr="D:\Asus\Desktop\Project\smart_agri\results\figures\fig6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554480"/>
            <a:ext cx="6633058" cy="3291840"/>
          </a:xfrm>
          <a:prstGeom prst="rect">
            <a:avLst/>
          </a:prstGeom>
        </p:spPr>
      </p:pic>
      <p:sp>
        <p:nvSpPr>
          <p:cNvPr id="5" name="proto2"/>
          <p:cNvSpPr/>
          <p:nvPr/>
        </p:nvSpPr>
        <p:spPr>
          <a:xfrm>
            <a:off x="7699248" y="16459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73568" y="18105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Two protocols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73568" y="224028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Augmentation-level
</a:t>
            </a:r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Shuffle all expanded samples, then split. Near-identical crops of one photograph land on both sides.
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Source-disjoint
</a:t>
            </a:r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Hold out whole photographs. The classifier is tested only on soil it has never seen.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983480"/>
            <a:ext cx="11027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Soil type falls from 91.9–94.0 % to 44.6–46.8 % — close to the 43.3 % obtainable by always guessing the most common class.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Most of the apparent accuracy came from recognising photographs, not soils. Soil condition holds up at 75.5–86.1 % and is the usable one.</a:t>
            </a:r>
            <a:endParaRPr lang="en-US" sz="1350" dirty="0"/>
          </a:p>
        </p:txBody>
      </p:sp>
      <p:sp>
        <p:nvSpPr>
          <p:cNvPr id="10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2286000"/>
            <a:ext cx="110276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788920"/>
            <a:ext cx="11027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4114800"/>
            <a:ext cx="110276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D5EAF4"/>
                </a:solidFill>
              </a:rPr>
              <a:t>What was achieved, what was not, and what it means at city scale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outcomes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48606E"/>
                </a:solidFill>
              </a:rPr>
              <a:t>15 of 16 requirements fully met; one partially met</a:t>
            </a:r>
            <a:endParaRPr lang="en-US" sz="1500" dirty="0"/>
          </a:p>
        </p:txBody>
      </p:sp>
      <p:sp>
        <p:nvSpPr>
          <p:cNvPr id="4" name="out0"/>
          <p:cNvSpPr/>
          <p:nvPr/>
        </p:nvSpPr>
        <p:spPr>
          <a:xfrm>
            <a:off x="566928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920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₹970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per node</a:t>
            </a:r>
            <a:endParaRPr lang="en-US" sz="1250" dirty="0"/>
          </a:p>
        </p:txBody>
      </p:sp>
      <p:sp>
        <p:nvSpPr>
          <p:cNvPr id="7" name="out1"/>
          <p:cNvSpPr/>
          <p:nvPr/>
        </p:nvSpPr>
        <p:spPr>
          <a:xfrm>
            <a:off x="4334256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4256" y="1920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fewer actuations</a:t>
            </a:r>
            <a:endParaRPr lang="en-US" sz="1250" dirty="0"/>
          </a:p>
        </p:txBody>
      </p:sp>
      <p:sp>
        <p:nvSpPr>
          <p:cNvPr id="10" name="out2"/>
          <p:cNvSpPr/>
          <p:nvPr/>
        </p:nvSpPr>
        <p:spPr>
          <a:xfrm>
            <a:off x="8101584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01584" y="1920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7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01584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fault tests passed</a:t>
            </a:r>
            <a:endParaRPr lang="en-US" sz="1250" dirty="0"/>
          </a:p>
        </p:txBody>
      </p:sp>
      <p:sp>
        <p:nvSpPr>
          <p:cNvPr id="13" name="out3"/>
          <p:cNvSpPr/>
          <p:nvPr/>
        </p:nvSpPr>
        <p:spPr>
          <a:xfrm>
            <a:off x="566928" y="33832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520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8,171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records logged</a:t>
            </a:r>
            <a:endParaRPr lang="en-US" sz="1250" dirty="0"/>
          </a:p>
        </p:txBody>
      </p:sp>
      <p:sp>
        <p:nvSpPr>
          <p:cNvPr id="16" name="out4"/>
          <p:cNvSpPr/>
          <p:nvPr/>
        </p:nvSpPr>
        <p:spPr>
          <a:xfrm>
            <a:off x="4334256" y="33832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34256" y="3520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86.1 %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334256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soil condition, unseen</a:t>
            </a:r>
            <a:endParaRPr lang="en-US" sz="1250" dirty="0"/>
          </a:p>
        </p:txBody>
      </p:sp>
      <p:sp>
        <p:nvSpPr>
          <p:cNvPr id="19" name="out5"/>
          <p:cNvSpPr/>
          <p:nvPr/>
        </p:nvSpPr>
        <p:spPr>
          <a:xfrm>
            <a:off x="8101584" y="33832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01584" y="3520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3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46.8 %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01584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soil type, unseen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029200"/>
            <a:ext cx="11027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infrastructure objective was met.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analytics objective is qualified: soil condition is usable, soil type is not — and would have looked highly accurate under conventional evaluation.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at city scale</a:t>
            </a:r>
            <a:endParaRPr lang="en-US" sz="3000" dirty="0"/>
          </a:p>
        </p:txBody>
      </p:sp>
      <p:sp>
        <p:nvSpPr>
          <p:cNvPr id="3" name="impl0"/>
          <p:cNvSpPr/>
          <p:nvPr/>
        </p:nvSpPr>
        <p:spPr>
          <a:xfrm>
            <a:off x="566928" y="1600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8562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9888" y="18379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Visibility without fragility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Because the monitoring layer has no actuation path, adding city-wide visibility does not add a city-wide failure mode. An operations centre can lose four hundred nodes from view without any of them stopping work.</a:t>
            </a:r>
            <a:endParaRPr lang="en-US" sz="1250" dirty="0"/>
          </a:p>
        </p:txBody>
      </p:sp>
      <p:sp>
        <p:nvSpPr>
          <p:cNvPr id="7" name="impl1"/>
          <p:cNvSpPr/>
          <p:nvPr/>
        </p:nvSpPr>
        <p:spPr>
          <a:xfrm>
            <a:off x="6281928" y="1600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6248" y="1856232"/>
            <a:ext cx="384048" cy="384048"/>
          </a:xfrm>
          <a:prstGeom prst="ellipse">
            <a:avLst/>
          </a:prstGeom>
          <a:solidFill>
            <a:srgbClr val="4A7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04888" y="18379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Cost decides coverage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At ₹970 a node, the limiting factor on how much green space a city can instrument stops being hardware budget and becomes installation and maintenance.</a:t>
            </a:r>
            <a:endParaRPr lang="en-US" sz="1250" dirty="0"/>
          </a:p>
        </p:txBody>
      </p:sp>
      <p:sp>
        <p:nvSpPr>
          <p:cNvPr id="11" name="impl2"/>
          <p:cNvSpPr/>
          <p:nvPr/>
        </p:nvSpPr>
        <p:spPr>
          <a:xfrm>
            <a:off x="566928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005072"/>
            <a:ext cx="384048" cy="384048"/>
          </a:xfrm>
          <a:prstGeom prst="ellipse">
            <a:avLst/>
          </a:prstGeom>
          <a:solidFill>
            <a:srgbClr val="D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89888" y="39867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Silent failure is a governance problem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26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A dashboard showing green for a dead pump is worse than no dashboard. Undetectable failure modes must be found before deployment, not after.</a:t>
            </a:r>
            <a:endParaRPr lang="en-US" sz="1250" dirty="0"/>
          </a:p>
        </p:txBody>
      </p:sp>
      <p:sp>
        <p:nvSpPr>
          <p:cNvPr id="15" name="impl3"/>
          <p:cNvSpPr/>
          <p:nvPr/>
        </p:nvSpPr>
        <p:spPr>
          <a:xfrm>
            <a:off x="6281928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EF4F7"/>
          </a:solidFill>
          <a:ln w="9525">
            <a:solidFill>
              <a:srgbClr val="D7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56248" y="4005072"/>
            <a:ext cx="384048" cy="384048"/>
          </a:xfrm>
          <a:prstGeom prst="ellipse">
            <a:avLst/>
          </a:prstGeom>
          <a:solidFill>
            <a:srgbClr val="C23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9867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Accuracy claims need protocols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4526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606E"/>
                </a:solidFill>
              </a:rPr>
              <a:t>Smart-city systems increasingly justify decisions by citing model accuracy. A figure quoted without stating how the data were split cannot support a procurement decision.</a:t>
            </a:r>
            <a:endParaRPr lang="en-US" sz="125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lim"/>
          <p:cNvSpPr/>
          <p:nvPr/>
        </p:nvSpPr>
        <p:spPr>
          <a:xfrm>
            <a:off x="566928" y="16916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BF2E8"/>
          </a:solidFill>
          <a:ln w="9525">
            <a:solidFill>
              <a:srgbClr val="E8D4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A00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23317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pump that loses power is reported as running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drifted or fouled probe is trusted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Water saving not measured — no flow meter fitted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Soil type not deployable at its measured accuracy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Validated in a container, not a live municipal site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probe represents a whole irrigation zone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Telemetry link is wired USB serial</a:t>
            </a:r>
            <a:endParaRPr lang="en-US" sz="1350" dirty="0"/>
          </a:p>
        </p:txBody>
      </p:sp>
      <p:sp>
        <p:nvSpPr>
          <p:cNvPr id="6" name="fut"/>
          <p:cNvSpPr/>
          <p:nvPr/>
        </p:nvSpPr>
        <p:spPr>
          <a:xfrm>
            <a:off x="6281928" y="16916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9F1EC"/>
          </a:solidFill>
          <a:ln w="9525">
            <a:solidFill>
              <a:srgbClr val="CB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1968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5C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23317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ACS712 current sensor — ₹145, closes the TC-07 gap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Pulse-response probe check to catch a fouled probe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Inline flow meter, so saving is reported in litres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Wi-Fi, LoRaWAN or NB-IoT backhaul for real city scale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Multi-zone valve control from one node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Several hundred field photographs for the classifier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Integration with municipal asset-management workflow</a:t>
            </a:r>
            <a:endParaRPr lang="en-US" sz="135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66928" y="1143000"/>
            <a:ext cx="11027664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1"/>
          <p:cNvSpPr/>
          <p:nvPr>
            <p:ph idx="103" hasCustomPrompt="1"/>
          </p:nvPr>
        </p:nvSpPr>
        <p:spPr>
          <a:xfrm>
            <a:off x="10954512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0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FA8C4"/>
                </a:solidFill>
              </a:rPr>
              <a:t>IN CLOSING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74520"/>
            <a:ext cx="11027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controller that reports irrigation it is not performing,</a:t>
            </a:r>
            <a:endParaRPr lang="en-US" sz="2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classifier that reports accuracy it does not have,</a:t>
            </a:r>
            <a:endParaRPr lang="en-US" sz="2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in the same way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60520"/>
            <a:ext cx="11027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4D4"/>
                </a:solidFill>
              </a:rPr>
              <a:t>Both look correct from the outside. Neither was discovered by watching the system work — both were found only by testing specifically for them. For infrastructure a city intends to trust without supervision, that testing is not an optional extra.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5806440"/>
            <a:ext cx="1188720" cy="3200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989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66928" y="2240280"/>
            <a:ext cx="11027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66928" y="4069080"/>
            <a:ext cx="110276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ban Water">
  <a:themeElements>
    <a:clrScheme name="Urban Water">
      <a:dk1>
        <a:srgbClr val="0D1B2A"/>
      </a:dk1>
      <a:lt1>
        <a:srgbClr val="FFFFFF"/>
      </a:lt1>
      <a:dk2>
        <a:srgbClr val="1B3A4B"/>
      </a:dk2>
      <a:lt2>
        <a:srgbClr val="EEF4F7"/>
      </a:lt2>
      <a:accent1>
        <a:srgbClr val="065A82"/>
      </a:accent1>
      <a:accent2>
        <a:srgbClr val="1C7293"/>
      </a:accent2>
      <a:accent3>
        <a:srgbClr val="4A7A5C"/>
      </a:accent3>
      <a:accent4>
        <a:srgbClr val="D98A00"/>
      </a:accent4>
      <a:accent5>
        <a:srgbClr val="C23B22"/>
      </a:accent5>
      <a:accent6>
        <a:srgbClr val="97BC62"/>
      </a:accent6>
      <a:hlink>
        <a:srgbClr val="1C7293"/>
      </a:hlink>
      <a:folHlink>
        <a:srgbClr val="4A7A5C"/>
      </a:folHlink>
    </a:clrScheme>
    <a:fontScheme name="Urban Wa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Management for Urban Green Infrastructure</dc:title>
  <dc:subject>PptxGenJS Presentation</dc:subject>
  <dc:creator>Smart Cities Project</dc:creator>
  <cp:lastModifiedBy>Smart Cities Project</cp:lastModifiedBy>
  <cp:revision>1</cp:revision>
  <dcterms:created xsi:type="dcterms:W3CDTF">2026-10-31T16:52:15Z</dcterms:created>
  <dcterms:modified xsi:type="dcterms:W3CDTF">2026-10-31T16:52:15Z</dcterms:modified>
</cp:coreProperties>
</file>